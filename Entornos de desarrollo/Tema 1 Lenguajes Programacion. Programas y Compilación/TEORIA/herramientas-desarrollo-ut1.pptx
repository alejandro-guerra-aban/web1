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D7B580-F792-4D9D-B123-A9D06E1367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989C41-99F1-4A50-80C8-1ED89DCC5A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5C66A2-4175-4C88-A24F-49A2E1DEAE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9557C8-234B-44CA-A345-C094F18BC2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B6C228-1EEB-4290-952B-58FD67D4D9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A561EC-E527-4241-BACD-BC53214A3E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3CC2AF-6960-4F24-99B3-C87D059166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676A1B-AA12-478B-AD57-C521CBB9F8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DCB84A-A34D-4A68-873F-A0DB57EC76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A6B972-186F-4354-A5F0-9581DF5279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FA567C-402E-4689-B0D1-265F7CEE3A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1097280" y="2011680"/>
            <a:ext cx="136800" cy="2925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463040" y="1920240"/>
            <a:ext cx="9600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</a:rPr>
              <a:t>Herramientas y Fundamentos del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Trebuchet MS"/>
              </a:rPr>
              <a:t>Desarrollo de Software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01"/>
              </a:spcAf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Verdana"/>
              </a:rPr>
              <a:t>Unidad Temática 1 (RA1) — El Programa Informático y Ecosistema de Desarrollo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Síntesis basada en las fuentes A-ED-UT1-RA1.pdf y A-ED-UT1-RA1-CEf.pdf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Un programa convierte un conjunto ordenado de instrucciones y datos en información útil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4"/>
          <p:cNvSpPr/>
          <p:nvPr/>
        </p:nvSpPr>
        <p:spPr>
          <a:xfrm>
            <a:off x="731520" y="1828800"/>
            <a:ext cx="320004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DATOS DE ENTRADA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Información inicial introducida en el sistema desde dispositivos de entrada.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ight Arrow 5"/>
          <p:cNvSpPr/>
          <p:nvPr/>
        </p:nvSpPr>
        <p:spPr>
          <a:xfrm>
            <a:off x="4023360" y="246888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6"/>
          <p:cNvSpPr/>
          <p:nvPr/>
        </p:nvSpPr>
        <p:spPr>
          <a:xfrm>
            <a:off x="4480560" y="1828800"/>
            <a:ext cx="3200040" cy="16455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ORDENADOR + PROGRAMA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Ejecución ciega y veloz del conjunto ordenado de instrucciones.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7"/>
          <p:cNvSpPr/>
          <p:nvPr/>
        </p:nvSpPr>
        <p:spPr>
          <a:xfrm>
            <a:off x="7772400" y="246888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ounded Rectangle 8"/>
          <p:cNvSpPr/>
          <p:nvPr/>
        </p:nvSpPr>
        <p:spPr>
          <a:xfrm>
            <a:off x="8229600" y="1828800"/>
            <a:ext cx="320004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DATOS DE SALIDA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Resultado final procesado tras ejecutar las reglas del programa.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9"/>
          <p:cNvSpPr/>
          <p:nvPr/>
        </p:nvSpPr>
        <p:spPr>
          <a:xfrm>
            <a:off x="731520" y="3840480"/>
            <a:ext cx="10728360" cy="237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27432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Principios Fundamentales de la Informática: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Informática: Definida como el tratamiento automático de la información mediante ordenadores.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Naturaleza del ordenador: Carece de inteligencia propia; obedece ciegamente instrucciones simples a altísima velocidad y con mínima probabilidad de error.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Programa Informático: Conjunto ordenado de instrucciones estructuradas según las reglas y símbolos de un lenguaje de programación.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Variables, constantes y expresiones gestionan la memoria y la lógica en ejecución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31520" y="1645920"/>
            <a:ext cx="33282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1. Variables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Nombre / Identificador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Referencia simbólica a una zona de memoria.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Memoria Asociada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Posiciones contiguas en la memoria RAM principal.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Valor Modificable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El contenido puede cambiar durante la ejecución.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Tipo de Dato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Define el rango de valores permitidos (ej. entero, alfabético).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4425840" y="1645920"/>
            <a:ext cx="33282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2. Constantes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Inmutabilidad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Guarda un valor fijo que NO puede cambiarse durante la ejecución.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Estructura de Memoria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Misma asociación a memoria y tipo que una variable.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Propósito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Aporta seguridad y claridad en el código (ej. PI = 3.1416).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Asignación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Se define al inicio con su tipo y valor inalterable.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8119800" y="1645920"/>
            <a:ext cx="33282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2286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199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3. Expresiones y Operadores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Composición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Combinación de constantes, variables, operadores y paréntesis.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Evaluación de Operadores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Evaluados según orden estricto de prioridad.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Tipos de Operadores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Aritméticos, alfanuméricos, relacionales y lógicos.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Resultado y Tipo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Produce un valor final de un tipo concreto (ej. 5 + 4 * 2 → 13).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Las instrucciones de definición, E/S y control determinan el flujo del programa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731520" y="1645920"/>
            <a:ext cx="107283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Instrucciones de Definición (Declaración de Datos)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Permiten describir las variables y constantes a utilizar y su tipo de dato. Sirven para que el compilador reserve la memoria principal necesaria antes de la ejecución (Ejemplo: ENTERO num_alumnos).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731520" y="3200400"/>
            <a:ext cx="1072836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Instrucciones de Entrada / Salida (E/S)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Transferencia de información entre la memoria RAM y dispositivos externos.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Entrada: Introducción de datos desde teclado, disco duro o red hacia la memoria.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Salida: Transferencia de datos desde la memoria hacia pantalla, impresora o disco.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6"/>
          <p:cNvSpPr/>
          <p:nvPr/>
        </p:nvSpPr>
        <p:spPr>
          <a:xfrm>
            <a:off x="731520" y="4754880"/>
            <a:ext cx="107283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Instrucciones de Control de Flujo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Definen la secuencia exacta de ejecución del programa: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Condicionales: Ejecutan ramas de acciones según se cumpla una condición (SI condición HACER acción-1 SI NO HACER acción-2).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Iterativas (Bucles): Repiten un conjunto de acciones múltiples veces (REPETIR n_veces HACER acción).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El hardware ejecuta la lógica mientras el software de sistema y aplicación coordinan el equipo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73152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HARDWARE (Parte Tangible)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Microprocesador (CPU): 'El cerebro' que realiza los cálculos.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Placa Base: Soporte interno donde se conectan los componentes.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Memoria RAM: Almacenamiento volátil para datos en ejecución.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Disco Duro / Unidades Ópticas: Almacenamiento permanente.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Fuente de Alimentación: Conversión de tensión alterna a continua.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Periféricos (E/S): Monitor, teclado, ratón y tarjetas de expansión.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24816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SOFTWARE (Elementos Lógicos)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1. Software de Sistema: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Sistema Operativo (Windows, Linux, macOS).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Controladores de dispositivos (Drivers).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Utilidades del sistema para el control del hardware.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2. Software de Aplicación: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Programas para tareas concretas del usuario.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Herramientas ofimáticas, diseño gráfico, contabilidad y ocio.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Cinco capas organizan la arquitectura desde el hardware físico hasta las aplicaciones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731520" y="1645920"/>
            <a:ext cx="10728360" cy="868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Capa 5: Programas de Aplicación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Editores de texto, navegadores y datos de uso habitual del usuario final.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731520" y="2606040"/>
            <a:ext cx="107283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Capa 4: Utilidades de Desarrollo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Entornos y herramientas empleadas por programadores para crear aplicaciones.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731520" y="3566160"/>
            <a:ext cx="107283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Capa 3: Sistema Operativo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Windows, Unix/Linux, macOS. Gestiona el hardware y ejecuta las capas superiores.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731520" y="4526280"/>
            <a:ext cx="10728360" cy="868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Capa 2: Firmware / BIOS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Chip en placa base. Intermediario HW/SW; comprueba hardware y carga el SO en RAM.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731520" y="5486400"/>
            <a:ext cx="107283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13716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Capa 1: Hardware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Base física (circuitos integrados, CPU, RAM) que ejecuta las instrucciones.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La virtualización aísla sistemas invitados sobre un anfitrión optimizando recursos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ounded Rectangle 4"/>
          <p:cNvSpPr/>
          <p:nvPr/>
        </p:nvSpPr>
        <p:spPr>
          <a:xfrm>
            <a:off x="73152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Estructura de Virtualización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Máquina Virtual: Simulación de un sistema informático independiente dentro del equipo real.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S.O. Anfitrión: Sistema operativo real instalado sobre el hardware físico.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Software de Virtualización: Aplicación sobre el SO Anfitrión (ej. VirtualBox, VMWare).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• S.O. Invitado: Sistema operativo que funciona dentro de cada máquina virtual con recursos simulados.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5"/>
          <p:cNvSpPr/>
          <p:nvPr/>
        </p:nvSpPr>
        <p:spPr>
          <a:xfrm>
            <a:off x="6248160" y="164592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27432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Balance Operativo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Ventajas Clave: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 + Pruebas seguras sin riesgo de degradar el SO anfitrión.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 + Simulación de redes completas sin infraestructura física.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 + Alta portabilidad (copia directa de ficheros de la VM).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 + Compatibilidad con programas de otros entornos.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Inconvenientes: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- Demanda de hardware potente (apropiación de recursos reales, especialmente memoria RAM).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La arquitectura Von Neumann coordina memoria, buses, ALU y Unidad de Control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731520" y="164592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1. Memoria Principal (RAM) y Buses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RAM: Acceso directo, volátil (pierde contenido sin electricidad), almacena datos y programas en ejecución.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Unidades E/S: Gestión de periféricos.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Buses: Líneas de transferencia de información internas.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6248160" y="164592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2. Unidad Aritmético-Lógica (UAL / ALU)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Ejecuta cálculos aritméticos (+, -) y lógicos (AND, OR, NOT):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Circuitos digitales de cálculo.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Registros de operandos.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Registro acumulador (guarda resultados) y Registro de Estado.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731520" y="4114800"/>
            <a:ext cx="10728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3. Unidad de Control (UC) — Coordinación de la Ejecución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Controla la secuencia de las instrucciones y la sincronización con la ALU y memoria: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Contador de Programa (CP): Almacena la dirección de memoria de la siguiente instrucción a ejecutar.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Registro de Instrucción (RI): Almacena la instrucción en ejecución en el momento actual.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Registros de propósito general, Decodificador de instrucciones y Reloj (frecuencia en Hz).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Los lenguajes de programación evolucionan del código máquina a la sintaxis declarativa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731520" y="1645920"/>
            <a:ext cx="25416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1. Lenguaje Máquina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Cercano al HW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Código binario y numérico nativo de la CPU. Totalmente dependiente de la arquitectura interna.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3456360" y="1645920"/>
            <a:ext cx="25416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2. Lenguaje Ensamblador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Simbólico / Bajo Nivel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Símbolos mnemónicos con relación 1 a 1 respecto al lenguaje máquina. Dependiente de CPU.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6"/>
          <p:cNvSpPr/>
          <p:nvPr/>
        </p:nvSpPr>
        <p:spPr>
          <a:xfrm>
            <a:off x="6181200" y="1645920"/>
            <a:ext cx="2541600" cy="47545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3. Lenguaje de Alto Nivel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Portable / Legible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Independiente de la máquina (C, Pascal, Java). Fácil lectura humana; traducido a decenas de instrucciones máquina.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7"/>
          <p:cNvSpPr/>
          <p:nvPr/>
        </p:nvSpPr>
        <p:spPr>
          <a:xfrm>
            <a:off x="8906400" y="1645920"/>
            <a:ext cx="254160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82880" rIns="1828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4. Lenguajes Declarativos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Verdana"/>
              </a:rPr>
              <a:t>Cercano al Humano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Verdana"/>
              </a:rPr>
              <a:t>Expresan 'qué hacer' en lugar de 'cómo hacerlo'. Basados en órdenes (SQL, SAS, SPSS).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Compiladores e intérpretes traducen el código mediante enfoques previos o en tiempo real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ounded Rectangle 4"/>
          <p:cNvSpPr/>
          <p:nvPr/>
        </p:nvSpPr>
        <p:spPr>
          <a:xfrm>
            <a:off x="731520" y="164592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Compiladores (Ej. C, Pascal)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Traducen todo el programa a lenguaje máquina como paso separado previo a la ejecución.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Proceso más eficiente: Cada sentencia se traduce una única vez.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6248160" y="164592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Intérpretes (Ej. LISP, PROLOG)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Ejecutan directamente las instrucciones línea a línea en tiempo de ejecución.</a:t>
            </a:r>
            <a:br>
              <a:rPr sz="1100"/>
            </a:b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Excelente para entornos educativos/depuración: Errores referidos al código fuente original.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731520" y="4114800"/>
            <a:ext cx="107283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Trebuchet MS"/>
              </a:rPr>
              <a:t>Modelo Híbrido: El Lenguaje Java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Fase 1 (Compilación): El código fuente se compila a un código intermedio denominado bytecodes.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Fase 2 (Interpretación): La Máquina Virtual de Java (JVM) interpreta los bytecodes en tiempo de ejecución.</a:t>
            </a:r>
            <a:br>
              <a:rPr sz="1200"/>
            </a:b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</a:rPr>
              <a:t>• Ventaja Principal: Portabilidad total ('Escribe una vez, ejecútalo en cualquier arquitectura con JVM').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731520" y="365760"/>
            <a:ext cx="1072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Verdana"/>
              </a:rPr>
              <a:t>HERRAMIENTAS Y DESARROLLO DE SOFTWARE — UT1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731520" y="640080"/>
            <a:ext cx="10728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293B"/>
                </a:solidFill>
                <a:effectLst/>
                <a:uFillTx/>
                <a:latin typeface="Trebuchet MS"/>
              </a:rPr>
              <a:t>El ecosistema moderno integra IDEs, Git, metodologías ágiles y herramientas especializadas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731520" y="1371600"/>
            <a:ext cx="10728360" cy="252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4" name="Table 4"/>
          <p:cNvGraphicFramePr/>
          <p:nvPr/>
        </p:nvGraphicFramePr>
        <p:xfrm>
          <a:off x="731520" y="1645920"/>
          <a:ext cx="10728360" cy="4754520"/>
        </p:xfrm>
        <a:graphic>
          <a:graphicData uri="http://schemas.openxmlformats.org/drawingml/2006/table">
            <a:tbl>
              <a:tblPr/>
              <a:tblGrid>
                <a:gridCol w="6858000"/>
                <a:gridCol w="3870360"/>
              </a:tblGrid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Verdana"/>
                        </a:rPr>
                        <a:t>Funcionalidad en el Desarrollo de Software</a:t>
                      </a:r>
                      <a:endParaRPr lang="es-E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Verdana"/>
                        </a:rPr>
                        <a:t>Herramientas de Ejemplo (Anexo CEf)</a:t>
                      </a:r>
                      <a:endParaRPr lang="es-E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Automatización de pruebas del software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JUnit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Construcción automática del software Java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Maven, Gradle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</a:tr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Control de versiones del software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Git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Generación automática de documentación desde comentarios Java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Javadoc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BEAFE"/>
                    </a:solidFill>
                  </a:tcPr>
                </a:tc>
              </a:tr>
              <a:tr h="792360"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Entorno de desarrollo integrado (IDE) / Depuración / Ágil / UML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82880" tIns="109440" rIns="182880" bIns="10944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Verdana"/>
                        </a:rPr>
                        <a:t>Eclipse, Netbeans | Depurador | Scrum, Kanban, XP | StarUML</a:t>
                      </a:r>
                      <a:endParaRPr lang="es-E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82880" marR="182880" marT="109440" marB="109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2026-10-02T20:47:25Z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